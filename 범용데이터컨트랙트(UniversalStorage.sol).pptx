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A23E4-B19E-40D1-9D82-48E126D7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254907-7132-4E7A-967C-2B193AEF6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E0E1F-888E-49DC-BAF7-50F9CB7B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6CEDF6-2FEE-4AB8-965A-0AFFFBC3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ED2B8F-8073-4B44-8AE5-B4EF55B8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06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60DAD-5C25-48AF-BCDD-5C227554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320E42-EB31-496C-A1BD-80DF828BE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7E2D08-04D3-4080-B40B-91C0E42F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259DB-72BA-4DAF-878C-3252AE97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6F6B36-CE51-4664-AA61-E85A71CC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A717B-73E3-4647-A0A2-A43C4982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F5DE00-DA26-446A-959D-09CDC7134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D1E1A6-4EC1-4EF6-BE54-D4ABB351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66D76-A3E7-442A-AF35-7657811E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EE69C-D681-4B2D-ABAE-D928CDFA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589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6DAA5-18B1-4D46-9A27-3FBFCF9D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3E9FF-52AB-49A4-B73A-82774C087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D03386-4CE2-4405-A138-7422B4DBF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B93D4C-B8C9-4D47-8237-01C902FD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714F30-7F10-4EF3-8F91-2A210C72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94696D-E80C-4AC2-999B-F2A16C61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7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B3CCE-58D1-4931-AC14-BF5EC13B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9708B-4455-4846-BBA5-B81C1C76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66E7AE-746E-43AF-8AC5-9E88F7248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6AF379-6523-4034-AB4E-85502BB52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D7E16B-07B1-437C-9DB8-419AF6F3D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3FD66F-474C-45E7-8552-E3543C44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3446FD-A58B-4742-BE33-CEA301B3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38F523-C49F-4552-9875-EE594D5C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84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C4BA6-D310-4B76-886A-ADD8B5E0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D9752D-40D9-4959-B062-B1BB94C9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3234D-786B-4D9B-BC12-A0D26935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48AAC0-2119-482B-8701-9A6A35EA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8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BE02D6-AB35-4670-84AE-258B8AC6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0B6D2-3EBB-46AF-8EBA-9E0446C5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2A62-71DF-49E0-BDBA-974BAC85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5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5E217-F352-414F-BDA2-82B0D36F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7118B-640F-42CD-B7CE-F5613BB9E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9C47D0-EC17-4943-8912-56FD6B5F1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DBA6-9F13-4665-94CE-49551F57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0E5BA9-A524-476C-AA2D-3798269D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BA85AA-AC2E-4241-BB07-9348CDE9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34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BF15-B739-46EB-BED7-3F9E179C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83B142-92EB-4066-A0E6-768771502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62B175-83CE-4BDD-B211-8C51227BF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940F93-BACE-4458-A2DB-E17846F7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D2DBE8-792D-4905-BC56-DD720F7DF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8A2E4D-46D5-439A-8C2A-B596B53C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8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FC9A4-FCA2-40C5-8702-29BC2B4F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108433-3458-400E-95E4-0092F9C48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7F345D-3C6B-4328-972B-E04D5AEC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B5CCB8-FBD2-4CD4-AF3E-F4E8E1BF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ADC6EB-1E1E-437B-A3BC-D9199715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24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4DFEE5-E466-4B30-8B5C-40B720BDE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53718B-FD49-490A-9D22-8E0E82A5B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C4F7B-135A-4C4C-9A26-08808BCB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0AAD6-3AFC-4F63-9725-FE420393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68DA2F-9EE0-4150-80F1-E410A79C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0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C0878F-F9CB-4B16-9791-1A04E5D3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674BB-CA45-4C31-A087-B9E568A88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945E0-642F-4D94-9FB7-F3B9BB09D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3C7B8-8C86-4099-BCE3-F1CE7506B0A2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CE09E-A6AB-4174-B569-200CE72DF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FCDE25-BEBA-48BE-93B4-FE364E53F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F27F7-5F58-4CDF-A5D4-D3AAD147AD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8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B05C586-0476-4BBE-96F2-2672E53F7498}"/>
              </a:ext>
            </a:extLst>
          </p:cNvPr>
          <p:cNvSpPr/>
          <p:nvPr/>
        </p:nvSpPr>
        <p:spPr>
          <a:xfrm>
            <a:off x="578572" y="1790792"/>
            <a:ext cx="10954510" cy="3577075"/>
          </a:xfrm>
          <a:prstGeom prst="roundRect">
            <a:avLst>
              <a:gd name="adj" fmla="val 5371"/>
            </a:avLst>
          </a:prstGeom>
          <a:solidFill>
            <a:schemeClr val="bg1">
              <a:lumMod val="85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EB898-6F93-4BB7-BE0A-EE3F8EF93950}"/>
              </a:ext>
            </a:extLst>
          </p:cNvPr>
          <p:cNvSpPr txBox="1"/>
          <p:nvPr/>
        </p:nvSpPr>
        <p:spPr>
          <a:xfrm>
            <a:off x="578572" y="1335698"/>
            <a:ext cx="152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주요 특징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CF985-7296-4188-862D-82387E1D799E}"/>
              </a:ext>
            </a:extLst>
          </p:cNvPr>
          <p:cNvSpPr txBox="1"/>
          <p:nvPr/>
        </p:nvSpPr>
        <p:spPr>
          <a:xfrm>
            <a:off x="742017" y="2026243"/>
            <a:ext cx="71048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highlight>
                  <a:srgbClr val="FFFF00"/>
                </a:highlight>
              </a:rPr>
              <a:t>범용성</a:t>
            </a:r>
            <a:endParaRPr lang="en-US" altLang="ko-KR" sz="1500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모든 타입 저장 가능 </a:t>
            </a:r>
            <a:r>
              <a:rPr lang="en-US" altLang="ko-KR" sz="1500" dirty="0"/>
              <a:t>(</a:t>
            </a:r>
            <a:r>
              <a:rPr lang="en-US" altLang="ko-KR" sz="1500" dirty="0" err="1"/>
              <a:t>uint</a:t>
            </a:r>
            <a:r>
              <a:rPr lang="en-US" altLang="ko-KR" sz="1500" dirty="0"/>
              <a:t>, string, address, bool, </a:t>
            </a:r>
            <a:r>
              <a:rPr lang="ko-KR" altLang="en-US" sz="1500" dirty="0"/>
              <a:t>배열</a:t>
            </a:r>
            <a:r>
              <a:rPr lang="en-US" altLang="ko-KR" sz="1500" dirty="0"/>
              <a:t>, </a:t>
            </a:r>
            <a:r>
              <a:rPr lang="ko-KR" altLang="en-US" sz="1500" dirty="0"/>
              <a:t>구조체</a:t>
            </a:r>
            <a:r>
              <a:rPr lang="en-US" altLang="ko-KR" sz="15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bytes</a:t>
            </a:r>
            <a:r>
              <a:rPr lang="ko-KR" altLang="en-US" sz="1500" dirty="0"/>
              <a:t>로 인코딩하여 저장</a:t>
            </a:r>
            <a:endParaRPr lang="en-US" altLang="ko-K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95369-4922-4D2A-9250-7E686B1F011D}"/>
              </a:ext>
            </a:extLst>
          </p:cNvPr>
          <p:cNvSpPr txBox="1"/>
          <p:nvPr/>
        </p:nvSpPr>
        <p:spPr>
          <a:xfrm>
            <a:off x="1062228" y="660790"/>
            <a:ext cx="100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핵심 개념</a:t>
            </a:r>
            <a:r>
              <a:rPr lang="en-US" altLang="ko-KR" dirty="0"/>
              <a:t>: </a:t>
            </a:r>
            <a:r>
              <a:rPr lang="ko-KR" altLang="en-US" dirty="0"/>
              <a:t>데이터 타입 제한 없이 모든 것을 저장할 수 있는 범용 </a:t>
            </a:r>
            <a:r>
              <a:rPr lang="ko-KR" altLang="en-US" dirty="0" err="1"/>
              <a:t>컨트랙트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9072D-6A61-44C9-9436-477022FFEB01}"/>
              </a:ext>
            </a:extLst>
          </p:cNvPr>
          <p:cNvSpPr txBox="1"/>
          <p:nvPr/>
        </p:nvSpPr>
        <p:spPr>
          <a:xfrm>
            <a:off x="0" y="138542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 err="1">
                <a:effectLst/>
              </a:rPr>
              <a:t>UniversalStorage</a:t>
            </a:r>
            <a:r>
              <a:rPr lang="en-US" altLang="ko-KR" sz="2400" b="0" dirty="0">
                <a:effectLst/>
              </a:rPr>
              <a:t> </a:t>
            </a:r>
            <a:r>
              <a:rPr lang="ko-KR" altLang="en-US" sz="2400" b="0" dirty="0" err="1">
                <a:effectLst/>
              </a:rPr>
              <a:t>컨트랙트</a:t>
            </a:r>
            <a:endParaRPr lang="ko-KR" alt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E9858-FD9C-4588-A9E4-459847F9DC9E}"/>
              </a:ext>
            </a:extLst>
          </p:cNvPr>
          <p:cNvSpPr txBox="1"/>
          <p:nvPr/>
        </p:nvSpPr>
        <p:spPr>
          <a:xfrm>
            <a:off x="742017" y="3046524"/>
            <a:ext cx="56235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highlight>
                  <a:srgbClr val="FFFF00"/>
                </a:highlight>
              </a:rPr>
              <a:t>개발 편의성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11</a:t>
            </a:r>
            <a:r>
              <a:rPr lang="ko-KR" altLang="en-US" sz="1500" dirty="0"/>
              <a:t>개 타입 </a:t>
            </a:r>
            <a:r>
              <a:rPr lang="ko-KR" altLang="en-US" sz="1500" dirty="0" err="1"/>
              <a:t>헬퍼</a:t>
            </a:r>
            <a:r>
              <a:rPr lang="ko-KR" altLang="en-US" sz="1500" dirty="0"/>
              <a:t> 함수로 간편하게 사용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또는 직접 인코딩해서 자유롭게 저장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9F4E4-0759-491F-B543-32B15A06AD24}"/>
              </a:ext>
            </a:extLst>
          </p:cNvPr>
          <p:cNvSpPr txBox="1"/>
          <p:nvPr/>
        </p:nvSpPr>
        <p:spPr>
          <a:xfrm>
            <a:off x="742017" y="4318439"/>
            <a:ext cx="70149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highlight>
                  <a:srgbClr val="FFFF00"/>
                </a:highlight>
              </a:rPr>
              <a:t>가스 효율</a:t>
            </a:r>
            <a:endParaRPr lang="en-US" altLang="ko-KR" sz="1500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calldata</a:t>
            </a:r>
            <a:r>
              <a:rPr lang="en-US" altLang="ko-KR" sz="1500" dirty="0"/>
              <a:t> </a:t>
            </a:r>
            <a:r>
              <a:rPr lang="ko-KR" altLang="en-US" sz="1500" dirty="0"/>
              <a:t>사용하여 데이터 복사 비용 최소화로 가스 절약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배치 작업으로 여러 데이터 한 번에 처리</a:t>
            </a:r>
          </a:p>
        </p:txBody>
      </p:sp>
    </p:spTree>
    <p:extLst>
      <p:ext uri="{BB962C8B-B14F-4D97-AF65-F5344CB8AC3E}">
        <p14:creationId xmlns:p14="http://schemas.microsoft.com/office/powerpoint/2010/main" val="235967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15B4BF1-3A3C-4382-9B5F-209EDDF27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79157"/>
              </p:ext>
            </p:extLst>
          </p:nvPr>
        </p:nvGraphicFramePr>
        <p:xfrm>
          <a:off x="894079" y="384048"/>
          <a:ext cx="10403842" cy="5749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196">
                  <a:extLst>
                    <a:ext uri="{9D8B030D-6E8A-4147-A177-3AD203B41FA5}">
                      <a16:colId xmlns:a16="http://schemas.microsoft.com/office/drawing/2014/main" val="1606193863"/>
                    </a:ext>
                  </a:extLst>
                </a:gridCol>
                <a:gridCol w="3068646">
                  <a:extLst>
                    <a:ext uri="{9D8B030D-6E8A-4147-A177-3AD203B41FA5}">
                      <a16:colId xmlns:a16="http://schemas.microsoft.com/office/drawing/2014/main" val="3595399692"/>
                    </a:ext>
                  </a:extLst>
                </a:gridCol>
              </a:tblGrid>
              <a:tr h="4543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312155"/>
                  </a:ext>
                </a:extLst>
              </a:tr>
              <a:tr h="5622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mapping(address =&gt; mapping(bytes32 =&gt; bytes)) private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userStorage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데이터 구조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사용자별 키</a:t>
                      </a: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값 저장소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048014"/>
                  </a:ext>
                </a:extLst>
              </a:tr>
              <a:tr h="4569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set(bytes32 key, bytes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value) external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범용 데이터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702313"/>
                  </a:ext>
                </a:extLst>
              </a:tr>
              <a:tr h="441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get(bytes32 key) external view returns (bytes memory)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범용 데이터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870362"/>
                  </a:ext>
                </a:extLst>
              </a:tr>
              <a:tr h="3373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batchSet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(bytes32[]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keys, bytes[]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values)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배치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612167"/>
                  </a:ext>
                </a:extLst>
              </a:tr>
              <a:tr h="5622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batchGet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(bytes32[]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keys) external view returns (bytes[]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배치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07087"/>
                  </a:ext>
                </a:extLst>
              </a:tr>
              <a:tr h="562274">
                <a:tc>
                  <a:txBody>
                    <a:bodyPr/>
                    <a:lstStyle/>
                    <a:p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function set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자료형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(bytes32 key, uint256 value)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단일값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헬퍼</a:t>
                      </a:r>
                      <a:r>
                        <a:rPr lang="ko-KR" altLang="en-US" sz="1400" dirty="0"/>
                        <a:t> 저장</a:t>
                      </a:r>
                      <a:r>
                        <a:rPr lang="en-US" altLang="ko-KR" sz="1400" dirty="0"/>
                        <a:t>(6</a:t>
                      </a:r>
                      <a:r>
                        <a:rPr lang="ko-KR" altLang="en-US" sz="1400" dirty="0"/>
                        <a:t>개 타입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137805"/>
                  </a:ext>
                </a:extLst>
              </a:tr>
              <a:tr h="5740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function get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자료형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(bytes32 key) external view returns (uint256)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단일 값 </a:t>
                      </a:r>
                      <a:r>
                        <a:rPr lang="ko-KR" altLang="en-US" sz="1400" dirty="0" err="1"/>
                        <a:t>헬퍼</a:t>
                      </a:r>
                      <a:r>
                        <a:rPr lang="ko-KR" altLang="en-US" sz="1400" dirty="0"/>
                        <a:t> 함수</a:t>
                      </a:r>
                      <a:r>
                        <a:rPr lang="en-US" altLang="ko-KR" sz="1400" dirty="0"/>
                        <a:t>(6</a:t>
                      </a:r>
                      <a:r>
                        <a:rPr lang="ko-KR" altLang="en-US" sz="1400" dirty="0"/>
                        <a:t>개 타입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492823"/>
                  </a:ext>
                </a:extLst>
              </a:tr>
              <a:tr h="378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set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자료형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Array(bytes32 key, uint256[]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value)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배열 저장 </a:t>
                      </a:r>
                      <a:r>
                        <a:rPr lang="en-US" altLang="ko-KR" sz="1400" dirty="0"/>
                        <a:t>(5</a:t>
                      </a:r>
                      <a:r>
                        <a:rPr lang="ko-KR" altLang="en-US" sz="1400" dirty="0"/>
                        <a:t>개 타입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6390"/>
                  </a:ext>
                </a:extLst>
              </a:tr>
              <a:tr h="536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get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자료형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Array(bytes32 key) external view returns (uint256[]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배열 조회</a:t>
                      </a:r>
                      <a:r>
                        <a:rPr lang="en-US" altLang="ko-KR" sz="1400" dirty="0"/>
                        <a:t>(5</a:t>
                      </a:r>
                      <a:r>
                        <a:rPr lang="ko-KR" altLang="en-US" sz="1400" dirty="0"/>
                        <a:t>개 타입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617752"/>
                  </a:ext>
                </a:extLst>
              </a:tr>
              <a:tr h="441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append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자료형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Array(bytes32 key, uint256[]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newValues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배열 추가</a:t>
                      </a:r>
                      <a:r>
                        <a:rPr lang="en-US" altLang="ko-KR" sz="1400" dirty="0"/>
                        <a:t>(5</a:t>
                      </a:r>
                      <a:r>
                        <a:rPr lang="ko-KR" altLang="en-US" sz="1400" dirty="0"/>
                        <a:t>개 타입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30985"/>
                  </a:ext>
                </a:extLst>
              </a:tr>
              <a:tr h="441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get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자료형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ArrayLength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(bytes32 key) external view returns (uint256)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배열 길이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25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E0327E-5BEC-4FA0-A86D-CA1C896379FA}"/>
              </a:ext>
            </a:extLst>
          </p:cNvPr>
          <p:cNvSpPr txBox="1"/>
          <p:nvPr/>
        </p:nvSpPr>
        <p:spPr>
          <a:xfrm>
            <a:off x="894079" y="6115550"/>
            <a:ext cx="9694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자주 쓰는 타입은 </a:t>
            </a:r>
            <a:r>
              <a:rPr lang="ko-KR" altLang="en-US" sz="1600" dirty="0" err="1"/>
              <a:t>헬퍼함수로</a:t>
            </a:r>
            <a:r>
              <a:rPr lang="ko-KR" altLang="en-US" sz="1600" dirty="0"/>
              <a:t> 내부적으로 인코딩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지원타입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uint256, int256, bool, address, string, bytes (</a:t>
            </a:r>
            <a:r>
              <a:rPr lang="ko-KR" altLang="en-US" sz="1600" dirty="0"/>
              <a:t>배열은 </a:t>
            </a:r>
            <a:r>
              <a:rPr lang="en-US" altLang="ko-KR" sz="1600" dirty="0"/>
              <a:t>bytes </a:t>
            </a:r>
            <a:r>
              <a:rPr lang="ko-KR" altLang="en-US" sz="1600" dirty="0"/>
              <a:t>제외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8700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306</Words>
  <Application>Microsoft Office PowerPoint</Application>
  <PresentationFormat>와이드스크린</PresentationFormat>
  <Paragraphs>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범용 데이터  저장/조회 컨트랙트</dc:title>
  <dc:creator>BIMATRIX</dc:creator>
  <cp:lastModifiedBy>BIMATRIX</cp:lastModifiedBy>
  <cp:revision>15</cp:revision>
  <cp:lastPrinted>2025-11-27T02:07:49Z</cp:lastPrinted>
  <dcterms:created xsi:type="dcterms:W3CDTF">2025-11-24T06:20:19Z</dcterms:created>
  <dcterms:modified xsi:type="dcterms:W3CDTF">2025-11-27T04:10:06Z</dcterms:modified>
</cp:coreProperties>
</file>